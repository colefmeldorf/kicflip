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64" r:id="rId3"/>
    <p:sldId id="265" r:id="rId4"/>
    <p:sldId id="258" r:id="rId5"/>
    <p:sldId id="259" r:id="rId6"/>
    <p:sldId id="262" r:id="rId7"/>
    <p:sldId id="261" r:id="rId8"/>
    <p:sldId id="263" r:id="rId9"/>
    <p:sldId id="260" r:id="rId10"/>
    <p:sldId id="256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60"/>
  </p:normalViewPr>
  <p:slideViewPr>
    <p:cSldViewPr snapToGrid="0">
      <p:cViewPr varScale="1">
        <p:scale>
          <a:sx n="83" d="100"/>
          <a:sy n="83" d="100"/>
        </p:scale>
        <p:origin x="390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91CBD4-A898-4E7B-C567-666DE271E7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4176862-F221-3E24-5AB5-BBA7177560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B4E926-7B43-4FE3-9F91-14BA06AD27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964758-D3FD-4CE3-8F68-FB36E41260AC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44329D-F4ED-5B53-0631-38B1311D68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0B10D1-58E0-6D08-D26B-C1AAC2DFC3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02BA1-908C-41E5-BCC6-2CA34B53C1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92569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BC8D4F-22B5-1B85-412A-703DE5789E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C58B23-5616-959F-C304-7716FD7D1C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BE7742-8AEB-E795-F021-9263227849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964758-D3FD-4CE3-8F68-FB36E41260AC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903918-FFF2-86C7-765F-1B38901DE2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2913B3-596F-6604-D0EF-A4FA1587F7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02BA1-908C-41E5-BCC6-2CA34B53C1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90348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2032C8-0F0C-37DC-6A34-DD67D7CFA6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437C2D-498C-E688-C69A-55C39B3726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3D68E3-E7D7-7433-AF43-06F7E9E07C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964758-D3FD-4CE3-8F68-FB36E41260AC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DEF588-B91C-183E-5E07-BF69C15DEB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55FEE8-957E-DD90-38EB-73D7675C2C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02BA1-908C-41E5-BCC6-2CA34B53C1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42127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C55EA8-C835-4269-3DBA-A61F922629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EA1A5A-BE91-320D-9AEF-19896C82E87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F3F09C-5AAD-253D-325E-0972D708E3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2A93CF7-5CB9-F7EE-85FD-2863C5072C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964758-D3FD-4CE3-8F68-FB36E41260AC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C0D68E-CBD9-9F2F-4962-579685899B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7E0D12-D9F9-2BEC-70DA-B2027B827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02BA1-908C-41E5-BCC6-2CA34B53C1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8239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B67A86-F6F7-E8A2-FD76-339D23AEEE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C3125F-319D-6F57-2A87-CEB406C493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333F21-B9B4-8D1F-7A13-43EF009C05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0BC4C16-407F-C0E7-D7AE-6201A57C851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F6F5E23-2708-3480-3645-89D6DBFE8EE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469AA7B-D7B2-7991-7D14-75DCB5D35A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964758-D3FD-4CE3-8F68-FB36E41260AC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85BBE1D-ABC8-536B-776C-1D5E475456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128D23F-B572-0B21-FD7C-C34B43416C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02BA1-908C-41E5-BCC6-2CA34B53C1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60499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A0B75A-8760-95C0-F67C-585D305B62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0A4DC8C-7822-8F6B-634E-AECF73C77A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964758-D3FD-4CE3-8F68-FB36E41260AC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C057C8-08FC-717C-52C7-7753BC1836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CD5B7B4-8091-C69C-93DC-C7B554C2A1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02BA1-908C-41E5-BCC6-2CA34B53C1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92042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FFBBE9F-DC0E-6ECF-C50F-7383266940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964758-D3FD-4CE3-8F68-FB36E41260AC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7B62F6D-F845-1E0C-2098-D851213A0D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E06DF6-C3CA-75AF-F259-5BD0B64F35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02BA1-908C-41E5-BCC6-2CA34B53C1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82871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66F024-D6F9-3A9C-702D-2EDA76E893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A408C0-36F9-5FC3-4242-FB3049EA64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8A0B829-33E1-248E-324A-BCC8839DB7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E18C05-C43A-FF71-9769-A628EADE81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964758-D3FD-4CE3-8F68-FB36E41260AC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102B19-6919-C329-E9F0-583E30A2BC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CCD630-69B9-FA6F-D042-CD29D51177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02BA1-908C-41E5-BCC6-2CA34B53C1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89276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927FBA-E23F-C749-898E-0BF4FE3DCE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D51631B-E40A-019B-A8ED-43B8BF7164B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A9CBC57-412B-091F-ACC0-3556648EEC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A5606C-144A-00F4-61C8-5B6AFBCCF0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964758-D3FD-4CE3-8F68-FB36E41260AC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FDED44-1E0D-E7ED-F952-22A99B38C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56309A-DC22-7669-40E3-D4BE931A8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02BA1-908C-41E5-BCC6-2CA34B53C1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82153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6BD23F-CFC9-8EDF-F7D8-CFA91C6CA0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E7B4A7B-5C19-858B-09B5-20DD14EFFC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C326B6-2535-A46C-75BA-BAE3FBCE19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964758-D3FD-4CE3-8F68-FB36E41260AC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DC63D2-E57E-6C76-B736-90892656A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3E831B-EB3C-E76C-F60E-BE83E4E154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02BA1-908C-41E5-BCC6-2CA34B53C1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94384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4AE5AFC-90F9-1A1F-2EE4-F5F3B3F095A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4B9A7B7-9CFE-B1DB-943E-E45E63EAD5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84FC66-3582-740F-2568-1F078B768B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964758-D3FD-4CE3-8F68-FB36E41260AC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3A51C9-6A35-C144-5480-F16CF63286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1AAF61-46EF-E2E4-8184-DDB47D0881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02BA1-908C-41E5-BCC6-2CA34B53C1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83723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88536CF-4E47-E52B-91C6-7FB39FBDA0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3D1102-A3AA-8BAF-544D-92C6212858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6B7FAD-B0E4-1C8E-8E02-F702C4C516C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B964758-D3FD-4CE3-8F68-FB36E41260AC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03E9C1-8747-5E26-7CDF-EFBF0330B6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983BDC-AF45-FCB0-C4F8-6D32489AF6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D402BA1-908C-41E5-BCC6-2CA34B53C1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40205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emf"/><Relationship Id="rId4" Type="http://schemas.openxmlformats.org/officeDocument/2006/relationships/oleObject" Target="../embeddings/oleObject2.bin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emf"/><Relationship Id="rId4" Type="http://schemas.openxmlformats.org/officeDocument/2006/relationships/oleObject" Target="../embeddings/oleObject4.bin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92F24A-C98C-CAFF-758A-E3E89A84414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LXX Perfusion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5E5AFA4-4877-6C73-9412-621BEAA3E92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Description that I enter of perfusion</a:t>
            </a:r>
          </a:p>
        </p:txBody>
      </p:sp>
    </p:spTree>
    <p:extLst>
      <p:ext uri="{BB962C8B-B14F-4D97-AF65-F5344CB8AC3E}">
        <p14:creationId xmlns:p14="http://schemas.microsoft.com/office/powerpoint/2010/main" val="14165929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719FB3-1607-B4FF-520B-82F40BB116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Donor Info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D8F59942-F8A0-A60A-7C2E-1BDD5F177D2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83047606"/>
              </p:ext>
            </p:extLst>
          </p:nvPr>
        </p:nvGraphicFramePr>
        <p:xfrm>
          <a:off x="838200" y="1825625"/>
          <a:ext cx="10515600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29000">
                  <a:extLst>
                    <a:ext uri="{9D8B030D-6E8A-4147-A177-3AD203B41FA5}">
                      <a16:colId xmlns:a16="http://schemas.microsoft.com/office/drawing/2014/main" val="3021451760"/>
                    </a:ext>
                  </a:extLst>
                </a:gridCol>
                <a:gridCol w="7086600">
                  <a:extLst>
                    <a:ext uri="{9D8B030D-6E8A-4147-A177-3AD203B41FA5}">
                      <a16:colId xmlns:a16="http://schemas.microsoft.com/office/drawing/2014/main" val="116101505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49018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Brief descriptor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Manually Entered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48092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Warm Ischemic Times: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Manually Entered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106951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Cold Ischemic Time: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Manually Entered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52284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Total Perfusion 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Manually Entered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01013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Biopsies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Manually Entered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96050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063580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3FA777-59B9-14B5-F987-505E77A39B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Sampling Schedule – Image Uploaded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B1B1324-BCE8-FC47-3641-2C01445B3D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85748"/>
            <a:ext cx="12192000" cy="3116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53367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8B7058-412A-0571-1A13-3CD4980BFB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6200000">
            <a:off x="-2585213" y="2578562"/>
            <a:ext cx="6309163" cy="1325563"/>
          </a:xfrm>
        </p:spPr>
        <p:txBody>
          <a:bodyPr>
            <a:normAutofit fontScale="90000"/>
          </a:bodyPr>
          <a:lstStyle/>
          <a:p>
            <a:r>
              <a:rPr lang="en-US" dirty="0"/>
              <a:t>Gross Images – There May Be Various Numbers of Images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D7D3238-D8B2-A632-5941-7458F9959338}"/>
              </a:ext>
            </a:extLst>
          </p:cNvPr>
          <p:cNvSpPr txBox="1"/>
          <p:nvPr/>
        </p:nvSpPr>
        <p:spPr>
          <a:xfrm>
            <a:off x="1654088" y="2961901"/>
            <a:ext cx="26583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Manually entered time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E1D11AD-D93D-2741-D46B-722B6A256CAE}"/>
              </a:ext>
            </a:extLst>
          </p:cNvPr>
          <p:cNvSpPr txBox="1"/>
          <p:nvPr/>
        </p:nvSpPr>
        <p:spPr>
          <a:xfrm>
            <a:off x="1537267" y="6352212"/>
            <a:ext cx="28920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Manually entered time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703A8B8-F628-02E7-6C37-E98D4FA76114}"/>
              </a:ext>
            </a:extLst>
          </p:cNvPr>
          <p:cNvSpPr txBox="1"/>
          <p:nvPr/>
        </p:nvSpPr>
        <p:spPr>
          <a:xfrm>
            <a:off x="6497500" y="6352212"/>
            <a:ext cx="28316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Manually entered time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6F31E73-2D68-1B28-E7FB-5CA095597724}"/>
              </a:ext>
            </a:extLst>
          </p:cNvPr>
          <p:cNvSpPr/>
          <p:nvPr/>
        </p:nvSpPr>
        <p:spPr>
          <a:xfrm>
            <a:off x="1084657" y="86762"/>
            <a:ext cx="3855980" cy="289198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6FB63A8-9827-BEBB-493D-11E46FC1396C}"/>
              </a:ext>
            </a:extLst>
          </p:cNvPr>
          <p:cNvSpPr/>
          <p:nvPr/>
        </p:nvSpPr>
        <p:spPr>
          <a:xfrm>
            <a:off x="5985316" y="86762"/>
            <a:ext cx="3855980" cy="289198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E50245E-9534-FCC6-B2D1-6F75ACFE75C9}"/>
              </a:ext>
            </a:extLst>
          </p:cNvPr>
          <p:cNvSpPr/>
          <p:nvPr/>
        </p:nvSpPr>
        <p:spPr>
          <a:xfrm>
            <a:off x="5985316" y="3503939"/>
            <a:ext cx="3855980" cy="289198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ABAFBB9-D1D7-A6EB-AB79-AC7FAAA8760F}"/>
              </a:ext>
            </a:extLst>
          </p:cNvPr>
          <p:cNvSpPr/>
          <p:nvPr/>
        </p:nvSpPr>
        <p:spPr>
          <a:xfrm>
            <a:off x="1081357" y="3503938"/>
            <a:ext cx="3855980" cy="289198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7DAC26B-1CA1-296A-6935-92A9AEDD78FA}"/>
              </a:ext>
            </a:extLst>
          </p:cNvPr>
          <p:cNvSpPr txBox="1"/>
          <p:nvPr/>
        </p:nvSpPr>
        <p:spPr>
          <a:xfrm>
            <a:off x="6584110" y="2937291"/>
            <a:ext cx="26583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Manually entered time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279A2E8-8E7F-BB65-E252-9314B6A01607}"/>
              </a:ext>
            </a:extLst>
          </p:cNvPr>
          <p:cNvSpPr/>
          <p:nvPr/>
        </p:nvSpPr>
        <p:spPr>
          <a:xfrm>
            <a:off x="10190067" y="2281863"/>
            <a:ext cx="1834551" cy="24441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22B2F78-54B7-1A8F-4E83-163FA62DCA8B}"/>
              </a:ext>
            </a:extLst>
          </p:cNvPr>
          <p:cNvSpPr txBox="1"/>
          <p:nvPr/>
        </p:nvSpPr>
        <p:spPr>
          <a:xfrm>
            <a:off x="9727001" y="4738663"/>
            <a:ext cx="26583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Bile Image</a:t>
            </a:r>
          </a:p>
        </p:txBody>
      </p:sp>
    </p:spTree>
    <p:extLst>
      <p:ext uri="{BB962C8B-B14F-4D97-AF65-F5344CB8AC3E}">
        <p14:creationId xmlns:p14="http://schemas.microsoft.com/office/powerpoint/2010/main" val="13988352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15C72E-6569-5F3D-CF2D-9889397E98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Transmedics</a:t>
            </a:r>
            <a:r>
              <a:rPr lang="en-US" dirty="0"/>
              <a:t> Data</a:t>
            </a:r>
          </a:p>
        </p:txBody>
      </p:sp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00E892D6-E539-DEFA-284A-44ED6AFF19F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9525" y="1454719"/>
          <a:ext cx="5810051" cy="4490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rism" r:id="rId2" imgW="3634000" imgH="2808671" progId="Prism10.Document">
                  <p:embed/>
                </p:oleObj>
              </mc:Choice>
              <mc:Fallback>
                <p:oleObj name="Prism" r:id="rId2" imgW="3634000" imgH="2808671" progId="Prism10.Document">
                  <p:embed/>
                  <p:pic>
                    <p:nvPicPr>
                      <p:cNvPr id="4" name="Object 3">
                        <a:extLst>
                          <a:ext uri="{FF2B5EF4-FFF2-40B4-BE49-F238E27FC236}">
                            <a16:creationId xmlns:a16="http://schemas.microsoft.com/office/drawing/2014/main" id="{00E892D6-E539-DEFA-284A-44ED6AFF19F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49525" y="1454719"/>
                        <a:ext cx="5810051" cy="44901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3B310B55-3A27-2750-E670-0FF918C1A00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044242" y="1454718"/>
          <a:ext cx="5870972" cy="4490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rism" r:id="rId4" imgW="3671791" imgH="2808671" progId="Prism10.Document">
                  <p:embed/>
                </p:oleObj>
              </mc:Choice>
              <mc:Fallback>
                <p:oleObj name="Prism" r:id="rId4" imgW="3671791" imgH="2808671" progId="Prism10.Document">
                  <p:embed/>
                  <p:pic>
                    <p:nvPicPr>
                      <p:cNvPr id="5" name="Object 4">
                        <a:extLst>
                          <a:ext uri="{FF2B5EF4-FFF2-40B4-BE49-F238E27FC236}">
                            <a16:creationId xmlns:a16="http://schemas.microsoft.com/office/drawing/2014/main" id="{3B310B55-3A27-2750-E670-0FF918C1A00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6044242" y="1454718"/>
                        <a:ext cx="5870972" cy="44901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8751334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2A67AB-29A2-CDE3-CE25-AD31423FBD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54694"/>
            <a:ext cx="10515600" cy="1325563"/>
          </a:xfrm>
        </p:spPr>
        <p:txBody>
          <a:bodyPr/>
          <a:lstStyle/>
          <a:p>
            <a:r>
              <a:rPr lang="en-US" dirty="0"/>
              <a:t>Hct and Lactate</a:t>
            </a:r>
          </a:p>
        </p:txBody>
      </p:sp>
      <p:graphicFrame>
        <p:nvGraphicFramePr>
          <p:cNvPr id="6" name="Object 5">
            <a:extLst>
              <a:ext uri="{FF2B5EF4-FFF2-40B4-BE49-F238E27FC236}">
                <a16:creationId xmlns:a16="http://schemas.microsoft.com/office/drawing/2014/main" id="{FEBBA65F-290C-3EE3-E8A5-FF9C82F9C5F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-60265" y="1066830"/>
          <a:ext cx="6282786" cy="48952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rism" r:id="rId2" imgW="3594051" imgH="2799671" progId="Prism10.Document">
                  <p:embed/>
                </p:oleObj>
              </mc:Choice>
              <mc:Fallback>
                <p:oleObj name="Prism" r:id="rId2" imgW="3594051" imgH="2799671" progId="Prism10.Document">
                  <p:embed/>
                  <p:pic>
                    <p:nvPicPr>
                      <p:cNvPr id="6" name="Object 5">
                        <a:extLst>
                          <a:ext uri="{FF2B5EF4-FFF2-40B4-BE49-F238E27FC236}">
                            <a16:creationId xmlns:a16="http://schemas.microsoft.com/office/drawing/2014/main" id="{FEBBA65F-290C-3EE3-E8A5-FF9C82F9C5F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-60265" y="1066830"/>
                        <a:ext cx="6282786" cy="489524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>
            <a:extLst>
              <a:ext uri="{FF2B5EF4-FFF2-40B4-BE49-F238E27FC236}">
                <a16:creationId xmlns:a16="http://schemas.microsoft.com/office/drawing/2014/main" id="{F2809BF7-C12E-D720-084D-7B93A056088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815348" y="1066830"/>
          <a:ext cx="6411400" cy="48952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rism" r:id="rId4" imgW="3786242" imgH="2891109" progId="Prism10.Document">
                  <p:embed/>
                </p:oleObj>
              </mc:Choice>
              <mc:Fallback>
                <p:oleObj name="Prism" r:id="rId4" imgW="3786242" imgH="2891109" progId="Prism10.Document">
                  <p:embed/>
                  <p:pic>
                    <p:nvPicPr>
                      <p:cNvPr id="7" name="Object 6">
                        <a:extLst>
                          <a:ext uri="{FF2B5EF4-FFF2-40B4-BE49-F238E27FC236}">
                            <a16:creationId xmlns:a16="http://schemas.microsoft.com/office/drawing/2014/main" id="{F2809BF7-C12E-D720-084D-7B93A056088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815348" y="1066830"/>
                        <a:ext cx="6411400" cy="489524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5689884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A4C480-862F-7546-5AEE-9FDBD35CE7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2686" y="109268"/>
            <a:ext cx="11714514" cy="845384"/>
          </a:xfrm>
        </p:spPr>
        <p:txBody>
          <a:bodyPr>
            <a:normAutofit fontScale="90000"/>
          </a:bodyPr>
          <a:lstStyle/>
          <a:p>
            <a:r>
              <a:rPr lang="en-US" dirty="0"/>
              <a:t>ICG – not always performed, variable number of timepoints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295DE1A-06E2-86ED-ADF3-A3D646DEAD7C}"/>
              </a:ext>
            </a:extLst>
          </p:cNvPr>
          <p:cNvSpPr txBox="1"/>
          <p:nvPr/>
        </p:nvSpPr>
        <p:spPr>
          <a:xfrm>
            <a:off x="977666" y="954652"/>
            <a:ext cx="10515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 min		5 min		20 min		  40 min		   60 min		    105 min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763FEF13-ED6D-B44D-38F1-B8B36CD23058}"/>
              </a:ext>
            </a:extLst>
          </p:cNvPr>
          <p:cNvSpPr txBox="1"/>
          <p:nvPr/>
        </p:nvSpPr>
        <p:spPr>
          <a:xfrm>
            <a:off x="223890" y="4311718"/>
            <a:ext cx="57411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Additional Images of Interest if Desired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F4EFB781-C705-CFCB-4A07-1357EB997A99}"/>
              </a:ext>
            </a:extLst>
          </p:cNvPr>
          <p:cNvSpPr txBox="1"/>
          <p:nvPr/>
        </p:nvSpPr>
        <p:spPr>
          <a:xfrm>
            <a:off x="7890510" y="4027477"/>
            <a:ext cx="37688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Fluorescence in Bile Image – manually enter time observed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52FF32C-89E2-0EA0-4DE8-D16160D02806}"/>
              </a:ext>
            </a:extLst>
          </p:cNvPr>
          <p:cNvSpPr/>
          <p:nvPr/>
        </p:nvSpPr>
        <p:spPr>
          <a:xfrm>
            <a:off x="231735" y="1267795"/>
            <a:ext cx="1863703" cy="127698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34D6A00-2422-830B-BE5E-0860FFFCB33F}"/>
              </a:ext>
            </a:extLst>
          </p:cNvPr>
          <p:cNvSpPr/>
          <p:nvPr/>
        </p:nvSpPr>
        <p:spPr>
          <a:xfrm>
            <a:off x="2168637" y="1267794"/>
            <a:ext cx="1863703" cy="127698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E2E496C-481B-0A91-FDA2-2B70A1F3E8F9}"/>
              </a:ext>
            </a:extLst>
          </p:cNvPr>
          <p:cNvSpPr/>
          <p:nvPr/>
        </p:nvSpPr>
        <p:spPr>
          <a:xfrm>
            <a:off x="4105539" y="1267794"/>
            <a:ext cx="1863703" cy="127698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4AF98F5-F5E4-0B72-5EE7-0DEB467187F3}"/>
              </a:ext>
            </a:extLst>
          </p:cNvPr>
          <p:cNvSpPr/>
          <p:nvPr/>
        </p:nvSpPr>
        <p:spPr>
          <a:xfrm>
            <a:off x="6042441" y="1267793"/>
            <a:ext cx="1863703" cy="127698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0646336-7837-E01D-1052-9E416B84A4B9}"/>
              </a:ext>
            </a:extLst>
          </p:cNvPr>
          <p:cNvSpPr/>
          <p:nvPr/>
        </p:nvSpPr>
        <p:spPr>
          <a:xfrm>
            <a:off x="7979343" y="1267794"/>
            <a:ext cx="1863703" cy="127698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9D6057B-4742-3A50-25EC-C7E7B43AF8EE}"/>
              </a:ext>
            </a:extLst>
          </p:cNvPr>
          <p:cNvSpPr/>
          <p:nvPr/>
        </p:nvSpPr>
        <p:spPr>
          <a:xfrm>
            <a:off x="9916245" y="1267793"/>
            <a:ext cx="1863703" cy="127698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5288B9D-70AD-865E-ED82-A3CA61DF8EBE}"/>
              </a:ext>
            </a:extLst>
          </p:cNvPr>
          <p:cNvSpPr/>
          <p:nvPr/>
        </p:nvSpPr>
        <p:spPr>
          <a:xfrm>
            <a:off x="231735" y="2712532"/>
            <a:ext cx="1863703" cy="127698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1F64925-4220-450B-EC92-16B818138A70}"/>
              </a:ext>
            </a:extLst>
          </p:cNvPr>
          <p:cNvSpPr/>
          <p:nvPr/>
        </p:nvSpPr>
        <p:spPr>
          <a:xfrm>
            <a:off x="2168637" y="2712531"/>
            <a:ext cx="1863703" cy="127698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DF12DEE-87B8-8286-8F26-F60400CEADFE}"/>
              </a:ext>
            </a:extLst>
          </p:cNvPr>
          <p:cNvSpPr/>
          <p:nvPr/>
        </p:nvSpPr>
        <p:spPr>
          <a:xfrm>
            <a:off x="4105539" y="2712531"/>
            <a:ext cx="1863703" cy="127698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F479380-A909-E6AF-F0B0-D276F60B6F72}"/>
              </a:ext>
            </a:extLst>
          </p:cNvPr>
          <p:cNvSpPr/>
          <p:nvPr/>
        </p:nvSpPr>
        <p:spPr>
          <a:xfrm>
            <a:off x="6042441" y="2712530"/>
            <a:ext cx="1863703" cy="127698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1F347831-994C-C947-2182-DCF134E760D9}"/>
              </a:ext>
            </a:extLst>
          </p:cNvPr>
          <p:cNvSpPr/>
          <p:nvPr/>
        </p:nvSpPr>
        <p:spPr>
          <a:xfrm>
            <a:off x="7979343" y="2712531"/>
            <a:ext cx="1863703" cy="127698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5D250955-35AB-B09D-A2D4-1EECE1B58851}"/>
              </a:ext>
            </a:extLst>
          </p:cNvPr>
          <p:cNvSpPr/>
          <p:nvPr/>
        </p:nvSpPr>
        <p:spPr>
          <a:xfrm>
            <a:off x="9916245" y="2712530"/>
            <a:ext cx="1863703" cy="127698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ED55FEE8-B01A-502D-3612-AD07DE5A19C1}"/>
              </a:ext>
            </a:extLst>
          </p:cNvPr>
          <p:cNvSpPr/>
          <p:nvPr/>
        </p:nvSpPr>
        <p:spPr>
          <a:xfrm>
            <a:off x="250928" y="4701149"/>
            <a:ext cx="3382888" cy="19028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036C4C1F-3E8C-817F-C066-17EAF9836D3E}"/>
              </a:ext>
            </a:extLst>
          </p:cNvPr>
          <p:cNvSpPr/>
          <p:nvPr/>
        </p:nvSpPr>
        <p:spPr>
          <a:xfrm>
            <a:off x="3744626" y="4681050"/>
            <a:ext cx="3382888" cy="19028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3FCF6D1E-9CFD-C5E0-369E-371F735A56EB}"/>
              </a:ext>
            </a:extLst>
          </p:cNvPr>
          <p:cNvSpPr/>
          <p:nvPr/>
        </p:nvSpPr>
        <p:spPr>
          <a:xfrm>
            <a:off x="7979343" y="4681049"/>
            <a:ext cx="3382888" cy="19028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15049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513FF8-2186-A3DC-674F-89A50862A9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Perfusion Impressions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E01DCB-0052-631F-4DB7-9CE4ADB01F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Observations:</a:t>
            </a:r>
          </a:p>
          <a:p>
            <a:pPr lvl="1"/>
            <a:r>
              <a:rPr lang="en-US" dirty="0"/>
              <a:t>Reason 1</a:t>
            </a:r>
          </a:p>
          <a:p>
            <a:pPr lvl="1"/>
            <a:r>
              <a:rPr lang="en-US" dirty="0"/>
              <a:t>Reason 2</a:t>
            </a:r>
          </a:p>
          <a:p>
            <a:pPr lvl="1"/>
            <a:r>
              <a:rPr lang="en-US" dirty="0"/>
              <a:t>Reason xxx</a:t>
            </a:r>
          </a:p>
          <a:p>
            <a:r>
              <a:rPr lang="en-US" dirty="0"/>
              <a:t>Missed time points:</a:t>
            </a:r>
          </a:p>
          <a:p>
            <a:pPr lvl="1"/>
            <a:r>
              <a:rPr lang="en-US" dirty="0"/>
              <a:t>Perfusate timepoint missed at 3:15 due to reason</a:t>
            </a:r>
          </a:p>
          <a:p>
            <a:pPr lvl="1"/>
            <a:r>
              <a:rPr lang="en-US" dirty="0"/>
              <a:t>Tissue biopsy performed every 2 hours rather than every 1</a:t>
            </a:r>
          </a:p>
          <a:p>
            <a:pPr lvl="1"/>
            <a:r>
              <a:rPr lang="en-US" dirty="0"/>
              <a:t>Final punch biopsies for formalin, OCT, and flash were not performed due to reason</a:t>
            </a:r>
          </a:p>
          <a:p>
            <a:r>
              <a:rPr lang="en-US" dirty="0"/>
              <a:t>Option to add more notes as needed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24273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7AB4C3-509D-C303-0621-A2D1E602EA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047" y="224287"/>
            <a:ext cx="11986404" cy="394144"/>
          </a:xfrm>
        </p:spPr>
        <p:txBody>
          <a:bodyPr>
            <a:noAutofit/>
          </a:bodyPr>
          <a:lstStyle/>
          <a:p>
            <a:r>
              <a:rPr lang="en-US" sz="3200" dirty="0"/>
              <a:t>Samples Status – Can write in Plan and Status, Can add various tissue sections, Can add or remove Bonuses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1E1A8361-78D7-41E6-894C-FDE876F5608C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227163" y="876719"/>
          <a:ext cx="11737674" cy="542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53751">
                  <a:extLst>
                    <a:ext uri="{9D8B030D-6E8A-4147-A177-3AD203B41FA5}">
                      <a16:colId xmlns:a16="http://schemas.microsoft.com/office/drawing/2014/main" val="723592103"/>
                    </a:ext>
                  </a:extLst>
                </a:gridCol>
                <a:gridCol w="2674189">
                  <a:extLst>
                    <a:ext uri="{9D8B030D-6E8A-4147-A177-3AD203B41FA5}">
                      <a16:colId xmlns:a16="http://schemas.microsoft.com/office/drawing/2014/main" val="3664676936"/>
                    </a:ext>
                  </a:extLst>
                </a:gridCol>
                <a:gridCol w="6009734">
                  <a:extLst>
                    <a:ext uri="{9D8B030D-6E8A-4147-A177-3AD203B41FA5}">
                      <a16:colId xmlns:a16="http://schemas.microsoft.com/office/drawing/2014/main" val="6644383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Plan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Status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479170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Perfusate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Olink</a:t>
                      </a:r>
                      <a:r>
                        <a:rPr lang="en-US" dirty="0"/>
                        <a:t> 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Pending: </a:t>
                      </a:r>
                    </a:p>
                    <a:p>
                      <a:r>
                        <a:rPr lang="en-US" b="0" dirty="0"/>
                        <a:t>need to decide the samples we will send for Reveal assay (1,000)</a:t>
                      </a:r>
                      <a:endParaRPr 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09819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Bile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79881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Tissue: Formalin Fixed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Live-Dead Stain</a:t>
                      </a:r>
                    </a:p>
                    <a:p>
                      <a:r>
                        <a:rPr lang="en-US" dirty="0"/>
                        <a:t>H&amp;E</a:t>
                      </a:r>
                    </a:p>
                    <a:p>
                      <a:r>
                        <a:rPr lang="en-US" dirty="0"/>
                        <a:t>Immune Cell Staining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Pending:</a:t>
                      </a:r>
                      <a:endParaRPr lang="en-US" b="0" dirty="0"/>
                    </a:p>
                    <a:p>
                      <a:r>
                        <a:rPr lang="en-US" b="0" dirty="0"/>
                        <a:t>Submitted to histology for embedding, H&amp;E</a:t>
                      </a:r>
                    </a:p>
                    <a:p>
                      <a:r>
                        <a:rPr lang="en-US" b="0" dirty="0"/>
                        <a:t>Identify antibodies of interest</a:t>
                      </a:r>
                      <a:endParaRPr 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50745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Tissue: Flash Frozen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scRNA</a:t>
                      </a:r>
                      <a:r>
                        <a:rPr lang="en-US" dirty="0"/>
                        <a:t>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Needs Discussion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2589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Tissue: Precision Slices of right, left, and caudate lobes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Culture</a:t>
                      </a:r>
                    </a:p>
                    <a:p>
                      <a:r>
                        <a:rPr lang="en-US" dirty="0"/>
                        <a:t>Viability Assay</a:t>
                      </a:r>
                    </a:p>
                    <a:p>
                      <a:r>
                        <a:rPr lang="en-US" dirty="0"/>
                        <a:t>Live-Dead Stain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Ongoing:</a:t>
                      </a:r>
                    </a:p>
                    <a:p>
                      <a:r>
                        <a:rPr lang="en-US" b="0" dirty="0"/>
                        <a:t>Culturing</a:t>
                      </a:r>
                    </a:p>
                    <a:p>
                      <a:r>
                        <a:rPr lang="en-US" b="1" dirty="0"/>
                        <a:t>Pending:</a:t>
                      </a:r>
                    </a:p>
                    <a:p>
                      <a:r>
                        <a:rPr lang="en-US" b="0" dirty="0"/>
                        <a:t>Order shaker for incubation</a:t>
                      </a:r>
                    </a:p>
                    <a:p>
                      <a:r>
                        <a:rPr lang="en-US" b="0" dirty="0"/>
                        <a:t>Need to order either Alamar Blue or MTS Assay</a:t>
                      </a:r>
                    </a:p>
                    <a:p>
                      <a:r>
                        <a:rPr lang="en-US" b="0" dirty="0"/>
                        <a:t>Submit fixed slices to histology</a:t>
                      </a:r>
                      <a:endParaRPr 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71482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Bonus: 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Jake Analysis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Pending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19370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Bonus: ICG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Image Analysis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Pending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9865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654070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20DF3CBE-165A-04FE-9B76-B85EE269FAAF}"/>
              </a:ext>
            </a:extLst>
          </p:cNvPr>
          <p:cNvSpPr txBox="1">
            <a:spLocks/>
          </p:cNvSpPr>
          <p:nvPr/>
        </p:nvSpPr>
        <p:spPr>
          <a:xfrm>
            <a:off x="0" y="97766"/>
            <a:ext cx="12192000" cy="6717102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/>
              <a:t>Title Slide: Need standardized format with words “LXX perfusion” where we enter XX manually, and area to manually enter brief description of studies run </a:t>
            </a:r>
          </a:p>
          <a:p>
            <a:pPr algn="l"/>
            <a:r>
              <a:rPr lang="en-US" dirty="0"/>
              <a:t>Donor Slide: Need standardized format with manually entry fields. EXCEPTION: total perfusion time should be  See slide for what fields are needed :)</a:t>
            </a:r>
          </a:p>
          <a:p>
            <a:pPr algn="l"/>
            <a:r>
              <a:rPr lang="en-US" dirty="0"/>
              <a:t>Gross Images: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Number of images we take varies: Basic version would be a PDF: auto resizes the images to a standard size, 2 per row with as many columns as needed for the number of images taken.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Need to organize by time: can require user to upload in order. Basic version for timepoint logging would be a field below each image for us to log when image was taken. Ideal version would automatically log the time photo was taken from metadata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Separate entry for bile image. </a:t>
            </a:r>
          </a:p>
          <a:p>
            <a:pPr algn="l"/>
            <a:r>
              <a:rPr lang="en-US" dirty="0" err="1"/>
              <a:t>Transmedics</a:t>
            </a:r>
            <a:r>
              <a:rPr lang="en-US" dirty="0"/>
              <a:t> Data: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Want to upload the </a:t>
            </a:r>
            <a:r>
              <a:rPr lang="en-US" dirty="0" err="1"/>
              <a:t>Transmedics</a:t>
            </a:r>
            <a:r>
              <a:rPr lang="en-US" dirty="0"/>
              <a:t> data excel, and from the “Perfusion Data” tab have it auto-make graphs: we have perfusion length as a column and then want to plot the flows on one graph, pressures on the other</a:t>
            </a:r>
          </a:p>
          <a:p>
            <a:pPr algn="l"/>
            <a:r>
              <a:rPr lang="en-US" dirty="0"/>
              <a:t>Hct and Lactate: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Hct is pulled from </a:t>
            </a:r>
            <a:r>
              <a:rPr lang="en-US" dirty="0" err="1"/>
              <a:t>Transmedics</a:t>
            </a:r>
            <a:r>
              <a:rPr lang="en-US" dirty="0"/>
              <a:t> data excel “Perfusion Data” tab. Lactate is from “</a:t>
            </a:r>
            <a:r>
              <a:rPr lang="en-US" dirty="0" err="1"/>
              <a:t>iStat</a:t>
            </a:r>
            <a:r>
              <a:rPr lang="en-US" dirty="0"/>
              <a:t> data” tab in the same excel.</a:t>
            </a:r>
          </a:p>
          <a:p>
            <a:pPr algn="l"/>
            <a:r>
              <a:rPr lang="en-US" dirty="0"/>
              <a:t>ICG: Want binary checkbox for if it was performed, and if so the ability to upload images. Variable number of images but ideally all in a row. One row is green &amp; red images, one is black &amp; white version</a:t>
            </a:r>
          </a:p>
          <a:p>
            <a:pPr algn="l"/>
            <a:r>
              <a:rPr lang="en-US" dirty="0"/>
              <a:t>Perfusion Impressions: Truly just want a place I can summarize everything from the perfusion</a:t>
            </a:r>
          </a:p>
          <a:p>
            <a:pPr algn="l"/>
            <a:r>
              <a:rPr lang="en-US" dirty="0"/>
              <a:t>Sample Status: Checkbox for all the samples we took + “other” -&gt; generates table where each sample type (Perfusate Spun Down, Perfusate Whole, Bile, Tissue Formalin, Tissue Flash Frozen, Other) has a separate row for me to enter in “Plan” and “Status” in </a:t>
            </a:r>
            <a:r>
              <a:rPr lang="en-US"/>
              <a:t>the columns.</a:t>
            </a:r>
            <a:endParaRPr lang="en-US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807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648</Words>
  <Application>Microsoft Office PowerPoint</Application>
  <PresentationFormat>Widescreen</PresentationFormat>
  <Paragraphs>83</Paragraphs>
  <Slides>10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Aptos</vt:lpstr>
      <vt:lpstr>Aptos Display</vt:lpstr>
      <vt:lpstr>Arial</vt:lpstr>
      <vt:lpstr>Office Theme</vt:lpstr>
      <vt:lpstr>Prism</vt:lpstr>
      <vt:lpstr>LXX Perfusion</vt:lpstr>
      <vt:lpstr>Donor Info</vt:lpstr>
      <vt:lpstr>Sampling Schedule – Image Uploaded</vt:lpstr>
      <vt:lpstr>Gross Images – There May Be Various Numbers of Images</vt:lpstr>
      <vt:lpstr>Transmedics Data</vt:lpstr>
      <vt:lpstr>Hct and Lactate</vt:lpstr>
      <vt:lpstr>ICG – not always performed, variable number of timepoints</vt:lpstr>
      <vt:lpstr>Perfusion Impressions</vt:lpstr>
      <vt:lpstr>Samples Status – Can write in Plan and Status, Can add various tissue sections, Can add or remove Bonuses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Nurminsky, Kat</dc:creator>
  <cp:lastModifiedBy>Nurminsky, Kat</cp:lastModifiedBy>
  <cp:revision>2</cp:revision>
  <dcterms:created xsi:type="dcterms:W3CDTF">2026-08-21T19:30:07Z</dcterms:created>
  <dcterms:modified xsi:type="dcterms:W3CDTF">2026-08-21T19:35:33Z</dcterms:modified>
</cp:coreProperties>
</file>